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564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eeraj kanneganti" userId="6ac4ef518f7e3557" providerId="LiveId" clId="{550C8CD4-302A-4BA8-83B5-46E9B43A77DD}"/>
    <pc:docChg chg="undo redo custSel modSld sldOrd">
      <pc:chgData name="dheeraj kanneganti" userId="6ac4ef518f7e3557" providerId="LiveId" clId="{550C8CD4-302A-4BA8-83B5-46E9B43A77DD}" dt="2026-04-16T02:44:19.154" v="43" actId="20577"/>
      <pc:docMkLst>
        <pc:docMk/>
      </pc:docMkLst>
      <pc:sldChg chg="delSp modSp mod">
        <pc:chgData name="dheeraj kanneganti" userId="6ac4ef518f7e3557" providerId="LiveId" clId="{550C8CD4-302A-4BA8-83B5-46E9B43A77DD}" dt="2026-04-16T02:42:26.879" v="39" actId="1035"/>
        <pc:sldMkLst>
          <pc:docMk/>
          <pc:sldMk cId="0" sldId="260"/>
        </pc:sldMkLst>
        <pc:spChg chg="mod">
          <ac:chgData name="dheeraj kanneganti" userId="6ac4ef518f7e3557" providerId="LiveId" clId="{550C8CD4-302A-4BA8-83B5-46E9B43A77DD}" dt="2026-04-16T02:42:26.879" v="39" actId="1035"/>
          <ac:spMkLst>
            <pc:docMk/>
            <pc:sldMk cId="0" sldId="260"/>
            <ac:spMk id="17" creationId="{00000000-0000-0000-0000-000000000000}"/>
          </ac:spMkLst>
        </pc:spChg>
        <pc:spChg chg="del mod">
          <ac:chgData name="dheeraj kanneganti" userId="6ac4ef518f7e3557" providerId="LiveId" clId="{550C8CD4-302A-4BA8-83B5-46E9B43A77DD}" dt="2026-04-16T02:39:08.526" v="22" actId="478"/>
          <ac:spMkLst>
            <pc:docMk/>
            <pc:sldMk cId="0" sldId="260"/>
            <ac:spMk id="20" creationId="{00000000-0000-0000-0000-000000000000}"/>
          </ac:spMkLst>
        </pc:spChg>
      </pc:sldChg>
      <pc:sldChg chg="ord">
        <pc:chgData name="dheeraj kanneganti" userId="6ac4ef518f7e3557" providerId="LiveId" clId="{550C8CD4-302A-4BA8-83B5-46E9B43A77DD}" dt="2026-04-16T01:53:25.116" v="1"/>
        <pc:sldMkLst>
          <pc:docMk/>
          <pc:sldMk cId="0" sldId="261"/>
        </pc:sldMkLst>
      </pc:sldChg>
      <pc:sldChg chg="modSp mod">
        <pc:chgData name="dheeraj kanneganti" userId="6ac4ef518f7e3557" providerId="LiveId" clId="{550C8CD4-302A-4BA8-83B5-46E9B43A77DD}" dt="2026-04-16T02:35:25.038" v="20" actId="14100"/>
        <pc:sldMkLst>
          <pc:docMk/>
          <pc:sldMk cId="0" sldId="265"/>
        </pc:sldMkLst>
        <pc:spChg chg="mod">
          <ac:chgData name="dheeraj kanneganti" userId="6ac4ef518f7e3557" providerId="LiveId" clId="{550C8CD4-302A-4BA8-83B5-46E9B43A77DD}" dt="2026-04-16T02:35:25.038" v="20" actId="14100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dheeraj kanneganti" userId="6ac4ef518f7e3557" providerId="LiveId" clId="{550C8CD4-302A-4BA8-83B5-46E9B43A77DD}" dt="2026-04-16T02:35:18.250" v="18" actId="403"/>
        <pc:sldMkLst>
          <pc:docMk/>
          <pc:sldMk cId="0" sldId="267"/>
        </pc:sldMkLst>
        <pc:spChg chg="mod">
          <ac:chgData name="dheeraj kanneganti" userId="6ac4ef518f7e3557" providerId="LiveId" clId="{550C8CD4-302A-4BA8-83B5-46E9B43A77DD}" dt="2026-04-16T02:35:18.250" v="18" actId="403"/>
          <ac:spMkLst>
            <pc:docMk/>
            <pc:sldMk cId="0" sldId="267"/>
            <ac:spMk id="12" creationId="{00000000-0000-0000-0000-000000000000}"/>
          </ac:spMkLst>
        </pc:spChg>
      </pc:sldChg>
      <pc:sldChg chg="modSp mod">
        <pc:chgData name="dheeraj kanneganti" userId="6ac4ef518f7e3557" providerId="LiveId" clId="{550C8CD4-302A-4BA8-83B5-46E9B43A77DD}" dt="2026-04-16T02:44:12.308" v="41" actId="20577"/>
        <pc:sldMkLst>
          <pc:docMk/>
          <pc:sldMk cId="0" sldId="269"/>
        </pc:sldMkLst>
        <pc:spChg chg="mod">
          <ac:chgData name="dheeraj kanneganti" userId="6ac4ef518f7e3557" providerId="LiveId" clId="{550C8CD4-302A-4BA8-83B5-46E9B43A77DD}" dt="2026-04-16T02:44:12.308" v="41" actId="20577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dheeraj kanneganti" userId="6ac4ef518f7e3557" providerId="LiveId" clId="{550C8CD4-302A-4BA8-83B5-46E9B43A77DD}" dt="2026-04-16T02:44:19.154" v="43" actId="20577"/>
        <pc:sldMkLst>
          <pc:docMk/>
          <pc:sldMk cId="0" sldId="270"/>
        </pc:sldMkLst>
        <pc:spChg chg="mod">
          <ac:chgData name="dheeraj kanneganti" userId="6ac4ef518f7e3557" providerId="LiveId" clId="{550C8CD4-302A-4BA8-83B5-46E9B43A77DD}" dt="2026-04-16T02:44:19.154" v="43" actId="20577"/>
          <ac:spMkLst>
            <pc:docMk/>
            <pc:sldMk cId="0" sldId="27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5557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· CBU I-O PSYCHOLOGY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5943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LEAP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32918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Cross-Cultural Workforce Strategy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Safran's Hyderabad MRO Facility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2062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Nathan Iverson · California Baptist University ·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0" y="1234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675120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75120" y="2880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675120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employees today. 1,100 by 2030.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and India sit at opposite ends of every cultural dimension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shapes how people communicate, give feedback, and speak up.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651760" cy="192024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9385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language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468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Morocco had French.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nothing.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828800"/>
            <a:ext cx="2651760" cy="192024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9385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30-year relationship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468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 took 3 decades.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4 years.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651760" cy="192024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9385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playbook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2468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site has never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been done before.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FFF8E7"/>
          </a:solidFill>
          <a:ln w="1905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40050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FOUNDING MOMENT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set in years 1–2 is nearly impossible to change later. 2026 is the window. This is the moment to get it right.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WHAT JEREMY TOLD 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evidence.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6217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64008" cy="1097280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0642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KNOWLEDGE TRANSFER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ask them to show me what they understood — because asking did you understand? always gets a yes."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power-distance: Indian technicians won't signal confusion to a senior French engineer.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6217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64008" cy="1097280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34086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STAYING SILENT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saw something wrong but said nothing. He didn't want to create a problem in front of the group."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aviation MRO this is not a communication problem — it is a safety problem.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520440"/>
            <a:ext cx="6217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64008" cy="1097280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5753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ROTATING ENGINEERS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person leaves on a Friday, someone starts Monday. That knowledge is gone."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repatriation is a knowledge loss event. No formal system exists.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051560"/>
            <a:ext cx="2103120" cy="35661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GAP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16459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Jeremy has personally figured out how to navigate the gap.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0" y="24231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it is systematized.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0" y="32004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workarounds leave when he leaves.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WHAT THE EVIDENCE SHOWS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warnings. Same silence.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88136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3931920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88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BOEING (TBAL) · Hyderabad 2015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attrition in early years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928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568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Reviews: micromanagement, poor support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4048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output achieved by replacing — not retaining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154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'textbook success' label applies to the product, not the people.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42976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4297680" cy="3474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7720" y="108813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737 MAX · Global 2018–2019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81728" y="150876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raised safety concerns internally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81728" y="185623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prioritised production over safety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81728" y="220370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had no mechanism to receive complaints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81728" y="255117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prevented concerns travelling upward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81728" y="289864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crashes. 346 lives lost.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005072"/>
            <a:ext cx="8595360" cy="804672"/>
          </a:xfrm>
          <a:prstGeom prst="rect">
            <a:avLst/>
          </a:prstGeom>
          <a:solidFill>
            <a:srgbClr val="FFF0E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06908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Jeremy's Pattern 2 — the technician who noticed something wrong and said nothing — is the same silence, at the beginning of the same chain. Unmanaged over years in a safety-critical environment, it creates exactly the conditions Boeing failed to address.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WHAT THE EVIDENCE SHOWS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— GE Aerospace, Pune 2015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920240" cy="146304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trained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1051560"/>
            <a:ext cx="1920240" cy="146304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50592" y="1143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50592" y="1737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growth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decade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26864" y="1051560"/>
            <a:ext cx="1920240" cy="146304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26864" y="1143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26864" y="1737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investment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in 2024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03136" y="1051560"/>
            <a:ext cx="1920240" cy="146304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03136" y="1143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03136" y="1737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facility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in 2015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1247" y="2694987"/>
            <a:ext cx="8595360" cy="17373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FOR SAFRAN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127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did not capture knowledge from American engineers. They built Indian capability until the site could run itself.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THEORETICAL FRAMEWORK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theories. One system.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155448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64008" cy="1554480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188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Hofstede (2003)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8912" y="1426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Distance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71907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77 · France 68. Why junior employees don't speak up to senior figures in public.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188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023360" cy="155448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64008" cy="1554480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73752" y="1188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Trompenaars (2020)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73752" y="1426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vs Diffuse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73752" y="171907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France: work is bound.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trust is relational first.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belonging matters operationally.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4023360" cy="155448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64008" cy="1554480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2926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Edmondson (1999)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38912" y="31638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Safety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" y="345643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High-safety teams surface errors 2–3× faster. In aviation MRO, this is not soft; it is safety.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834640"/>
            <a:ext cx="4023360" cy="155448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2834640"/>
            <a:ext cx="64008" cy="1554480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73752" y="2926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Collins et al. (1989)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73752" y="31638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Apprenticeship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73752" y="345643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transfers through coached judgment, not procedure delivery. GE Pune used this model.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THE LEAP INTEGRATION FRAMEWORK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22960" cy="82296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8016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TOGETHER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1064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· Cultural Bridge Training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0" cy="201168"/>
          </a:xfrm>
          <a:prstGeom prst="line">
            <a:avLst/>
          </a:prstGeom>
          <a:noFill/>
          <a:ln w="25400">
            <a:solidFill>
              <a:srgbClr val="1A5276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709928"/>
            <a:ext cx="822960" cy="82296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7099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280160" y="1755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KNOWLEDGE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1305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· Knowledge Empowerment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532888"/>
            <a:ext cx="0" cy="201168"/>
          </a:xfrm>
          <a:prstGeom prst="line">
            <a:avLst/>
          </a:prstGeom>
          <a:noFill/>
          <a:ln w="25400">
            <a:solidFill>
              <a:srgbClr val="1A7A4A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734056"/>
            <a:ext cx="822960" cy="82296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73405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1280160" y="27797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WITH CARE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154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· Wellness Wallet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557016"/>
            <a:ext cx="0" cy="201168"/>
          </a:xfrm>
          <a:prstGeom prst="line">
            <a:avLst/>
          </a:prstGeom>
          <a:noFill/>
          <a:ln w="25400">
            <a:solidFill>
              <a:srgbClr val="7D3C98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758184"/>
            <a:ext cx="822960" cy="822960"/>
          </a:xfrm>
          <a:prstGeom prst="rect">
            <a:avLst/>
          </a:prstGeom>
          <a:solidFill>
            <a:srgbClr val="B770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375818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1280160" y="3803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MOMENT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178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Founding Window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685800"/>
            <a:ext cx="2286000" cy="409651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0" y="13716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</a:t>
            </a:r>
            <a:endParaRPr lang="en-US" sz="7200" dirty="0"/>
          </a:p>
        </p:txBody>
      </p:sp>
      <p:sp>
        <p:nvSpPr>
          <p:cNvPr id="25" name="Text 23"/>
          <p:cNvSpPr/>
          <p:nvPr/>
        </p:nvSpPr>
        <p:spPr>
          <a:xfrm>
            <a:off x="6583680" y="32004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PILLAR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502920"/>
            <a:ext cx="822960" cy="82296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34440" y="6217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TOGETHER · CULTURAL BRIDGE TRAINING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914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Scenario-based · Every new hire · French + Indian · Same first week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931920" cy="29260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— Indian New Hires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French directness is not personal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speaking up looks like — and why it matters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decisions are made in French hierarchy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raise a concern safely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371600"/>
            <a:ext cx="4297680" cy="29260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463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— French Rotating Engineers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silence is not agreement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331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give feedback privately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834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relationship-building means here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337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space for speaking up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49884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session: both groups work through a real operational scenario together. 2 days = 2 months of friction saved.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PILLAR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80708" y="576072"/>
            <a:ext cx="822960" cy="681228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34440" y="6217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KNOWLEDGE · KNOWLEDGE EMPOWERMENT PROGRAM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914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Pune did this. Output grew ×10. Build Indian capability. Indian engineers become the experts.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8595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64008" cy="105156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435608"/>
            <a:ext cx="1005840" cy="32004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435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00200" y="141732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Follower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180136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and executes documented processes accurately.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8595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64008" cy="105156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624328"/>
            <a:ext cx="1005840" cy="32004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6243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00200" y="260604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Decision-Maker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299008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judgment calls in defined domains — no French sign-off needed.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8595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64008" cy="105156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813048"/>
            <a:ext cx="1005840" cy="32004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81304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00200" y="379476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Teacher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0200" y="417880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Level 1 &amp; 2. French engineers teach Level 3s only. Knowledge propagates horizontally.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Collins · Cognitive Apprenticeship · GE Pune Benchmark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PILLAR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502920"/>
            <a:ext cx="822960" cy="82296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34440" y="6217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WITH CARE · WELLNESS WALLET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914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collectivism as a feature, not a problem.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2743200" cy="210312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463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₹3,000</a:t>
            </a:r>
          </a:p>
          <a:p>
            <a:pPr marL="0" indent="0" algn="ctr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(34 euros)</a:t>
            </a:r>
            <a:endParaRPr lang="en-US" sz="1000" i="1" dirty="0"/>
          </a:p>
        </p:txBody>
      </p:sp>
      <p:sp>
        <p:nvSpPr>
          <p:cNvPr id="10" name="Text 8"/>
          <p:cNvSpPr/>
          <p:nvPr/>
        </p:nvSpPr>
        <p:spPr>
          <a:xfrm>
            <a:off x="274320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Indian employee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Pre-approved platform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1691640" cy="8229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6120" y="13258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&amp; Counseling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66360" y="1325880"/>
            <a:ext cx="1691640" cy="8229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66360" y="13258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&amp; Fitness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86600" y="1325880"/>
            <a:ext cx="1691640" cy="8229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86600" y="13258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 Apps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2331720"/>
            <a:ext cx="1691640" cy="8229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46120" y="233172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&amp; Sports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66360" y="2331720"/>
            <a:ext cx="1691640" cy="8229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66360" y="233172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86600" y="2331720"/>
            <a:ext cx="1691640" cy="8229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86600" y="233172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Visits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20440"/>
            <a:ext cx="8595360" cy="12801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593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COLLECTIVISM INSIGHT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385876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employees look out for each other naturally. We don't manufacture this. We give it formal structure and a resource to use.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cost: </a:t>
            </a:r>
            <a:r>
              <a:rPr lang="en-US" sz="1200" b="1" dirty="0">
                <a:solidFill>
                  <a:srgbClr val="FFCC00"/>
                </a:solidFill>
              </a:rPr>
              <a:t>€470,000</a:t>
            </a:r>
            <a:r>
              <a:rPr lang="en-US" sz="1200" b="1" dirty="0"/>
              <a:t> </a:t>
            </a:r>
            <a:r>
              <a:rPr lang="en-US" sz="12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(₹4.15Cr) · 83% of total program budget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IMPLEMENTATION TIMELINE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phases. One direction.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0" y="137160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62272" y="137160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638544" y="137160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1828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051560"/>
            <a:ext cx="1828800" cy="59436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078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13167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737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cultural trainer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35000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training cohort (250 staff)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96265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3-level framework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57530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Level 3 peer teachers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50592" y="1051560"/>
            <a:ext cx="1828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50592" y="1051560"/>
            <a:ext cx="1828800" cy="59436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50592" y="1078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4–12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450592" y="13167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42032" y="1737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Wellness Wallet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42032" y="235000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teaching begins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42032" y="296265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Level 2 certifications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42032" y="357530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quarterly mixed debrief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26864" y="1051560"/>
            <a:ext cx="1828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26864" y="1051560"/>
            <a:ext cx="1828800" cy="59436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26864" y="1078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2–3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626864" y="13167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18304" y="1737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hire trained (no exceptions)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18304" y="235000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Level 3 teachers by yr end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18304" y="296265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wellness data reviewed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18304" y="357530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survey tracks culture scores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03136" y="1051560"/>
            <a:ext cx="1828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03136" y="1051560"/>
            <a:ext cx="1828800" cy="594360"/>
          </a:xfrm>
          <a:prstGeom prst="rect">
            <a:avLst/>
          </a:prstGeom>
          <a:solidFill>
            <a:srgbClr val="B770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03136" y="1078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4–5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803136" y="13167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94576" y="1737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fully self-sustains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94576" y="235000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35%+ attrition reduction achieved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94576" y="296265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experts lead onboarding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94576" y="357530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engineers = collaborators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CHALLENGES AND TRADE-OFFS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honest challenges. Four solutions.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023360" cy="38404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5361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management resistance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9202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as a professional advantage — not a correction. Engineers who transfer knowledge across cultural gaps are more valuable globally.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023360" cy="38404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18888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818888" y="15361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Wallet stigma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18888" y="19202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modeling by senior Indian managers normalizes use. Peer-support culture from Pillar 1 reduces stigma organically.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023360" cy="38404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2990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84048" y="33649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the internal cultural trainer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84048" y="37490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external specialist for first two cohorts. Internal hire then inherits a tested program rather than starting from zero.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926080"/>
            <a:ext cx="4023360" cy="38404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18888" y="2990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818888" y="33649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what matters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18888" y="37490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Five-question quarterly pulse survey: psychological safety, belonging, decision confidence, communication satisfaction, wellbeing support.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</a:t>
            </a:r>
            <a:r>
              <a:rPr lang="en-US" sz="900" b="1" kern="0" spc="2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PERSONAL REFLECTION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taught me.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84124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64008" cy="841248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cultural problem.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business risk that happens to have cultural causes. That reframing changed everything.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8595360" cy="84124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64008" cy="841248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0756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Jeremy has the answer — but it leaves when he does.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insight. It is systematization. Workarounds that live in one person's head are not solutions.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8595360" cy="84124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64008" cy="841248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0358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Pune was the turning point.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didn't send better expatriates. They built Indian capability until the site could run itself.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931920"/>
            <a:ext cx="8595360" cy="84124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931920"/>
            <a:ext cx="64008" cy="841248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995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silence is a safety problem, not an HR problem.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employees quietly leave rather than raise concerns. In aviation MRO, that silence has consequences Boeing proved at scale.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solidFill>
            <a:srgbClr val="0F1E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valuable thing an I-O psychologist can do is translate human behavior into business language — not to make the human part seem less important, but to make it impossible to ignore.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4480560" cy="507034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the founding moment.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 use 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274320" y="3246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4572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PUNE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846320" y="11887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the founding moment.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21945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×10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4846320" y="3246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growth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493530" y="73152"/>
            <a:ext cx="0" cy="4315968"/>
          </a:xfrm>
          <a:prstGeom prst="line">
            <a:avLst/>
          </a:prstGeom>
          <a:noFill/>
          <a:ln w="19050">
            <a:solidFill>
              <a:srgbClr val="C8A84B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3977640"/>
            <a:ext cx="9144000" cy="1165860"/>
          </a:xfrm>
          <a:prstGeom prst="rect">
            <a:avLst/>
          </a:prstGeom>
          <a:solidFill>
            <a:srgbClr val="C8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0507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Safran Hyderabad's founding moment is now.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453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LEAP Integration Framework is the plan to use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1353</Words>
  <Application>Microsoft Office PowerPoint</Application>
  <PresentationFormat>On-screen Show (16:9)</PresentationFormat>
  <Paragraphs>224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LEAP Integration Framework – Safran Hyderabad</dc:title>
  <dc:subject>PptxGenJS Presentation</dc:subject>
  <dc:creator>PptxGenJS</dc:creator>
  <cp:lastModifiedBy>dheeraj kanneganti</cp:lastModifiedBy>
  <cp:revision>4</cp:revision>
  <dcterms:created xsi:type="dcterms:W3CDTF">2026-04-16T00:10:18Z</dcterms:created>
  <dcterms:modified xsi:type="dcterms:W3CDTF">2026-04-16T02:44:20Z</dcterms:modified>
</cp:coreProperties>
</file>